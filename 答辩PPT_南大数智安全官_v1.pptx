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7B2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3E8F5"/>
                </a:solidFill>
                <a:latin typeface="PingFang SC"/>
              </a:rPr>
              <a:t>OpenClaw 应用创新大赛 · 初赛答辩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3E8F5"/>
                </a:solidFill>
                <a:latin typeface="Helvetica"/>
              </a:rPr>
              <a:t>OPENCLAW APPLICATION INNOVATION CONTEST · ROUND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PingFang SC"/>
              </a:rPr>
              <a:t>🛡 南大数智安全官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0">
                <a:solidFill>
                  <a:srgbClr val="F3E8F5"/>
                </a:solidFill>
                <a:latin typeface="Helvetica"/>
              </a:rPr>
              <a:t>NJU Guardian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PingFang SC"/>
              </a:rPr>
              <a:t>基于 OpenClaw 平台的校园场景化反诈 AI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80560"/>
            <a:ext cx="1828800" cy="15000"/>
          </a:xfrm>
          <a:prstGeom prst="rect">
            <a:avLst/>
          </a:prstGeom>
          <a:solidFill>
            <a:srgbClr val="F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3E8F5"/>
                </a:solidFill>
                <a:latin typeface="PingFang SC"/>
              </a:rPr>
              <a:t>50 类知识库 · 双路召回 · 8/8 冒烟测试 · MIT + CC BY 4.0 开源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</a:rPr>
              <a:t>答辩人：鲍海文（221098271）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3E8F5"/>
                </a:solidFill>
                <a:latin typeface="PingFang SC"/>
              </a:rPr>
              <a:t>南京大学 · 经济学（拔尖计划）· 个人参赛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53212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3E8F5"/>
                </a:solidFill>
                <a:latin typeface="Helvetica"/>
              </a:rPr>
              <a:t>github.com/hjjbh1314/nju-guardian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89788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>
                <a:solidFill>
                  <a:srgbClr val="F3E8F5"/>
                </a:solidFill>
                <a:latin typeface="PingFang SC"/>
              </a:rPr>
              <a:t>2026 · 南京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7B2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4A1852"/>
                </a:solidFill>
                <a:latin typeface="PingFang SC"/>
              </a:rPr>
              <a:t>01  设计目的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PingFang SC"/>
              </a:rPr>
              <a:t>校园反诈的覆盖空白 · Why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41148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PingFang SC"/>
              </a:rPr>
              <a:t>02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FAF9FB"/>
          </a:solidFill>
          <a:ln w="9525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0632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7B287D"/>
                </a:solidFill>
                <a:latin typeface="PingFang SC"/>
              </a:rPr>
              <a:t>📊 高发刑事犯罪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30632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PingFang SC"/>
              </a:rPr>
              <a:t>电信网络诈骗已成为我国</a:t>
            </a:r>
          </a:p>
          <a:p>
            <a:pPr algn="l"/>
            <a:r>
              <a:rPr sz="1300" b="1">
                <a:solidFill>
                  <a:srgbClr val="2D2D2D"/>
                </a:solidFill>
                <a:latin typeface="PingFang SC"/>
              </a:rPr>
              <a:t>发案率最高的刑事犯罪之一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30632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PingFang SC"/>
              </a:rPr>
              <a:t>大学生：社会经验不足、</a:t>
            </a:r>
          </a:p>
          <a:p>
            <a:pPr algn="l"/>
            <a:r>
              <a:rPr sz="1200" b="0">
                <a:solidFill>
                  <a:srgbClr val="6B6B6B"/>
                </a:solidFill>
                <a:latin typeface="PingFang SC"/>
              </a:rPr>
              <a:t>新型 App 使用频繁、属高危群体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FAF9FB"/>
          </a:solidFill>
          <a:ln w="9525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783080"/>
            <a:ext cx="30632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7B287D"/>
                </a:solidFill>
                <a:latin typeface="PingFang SC"/>
              </a:rPr>
              <a:t>🎓 校园语境覆盖不足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23160"/>
            <a:ext cx="30632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PingFang SC"/>
              </a:rPr>
              <a:t>国家反诈中心 App 通用场景成熟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246120"/>
            <a:ext cx="30632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PingFang SC"/>
              </a:rPr>
              <a:t>但辅导员收班费、奖助、宿舍租赁、</a:t>
            </a:r>
          </a:p>
          <a:p>
            <a:pPr algn="l"/>
            <a:r>
              <a:rPr sz="1200" b="0">
                <a:solidFill>
                  <a:srgbClr val="6B6B6B"/>
                </a:solidFill>
                <a:latin typeface="PingFang SC"/>
              </a:rPr>
              <a:t>社团转账、老乡群高仿号——</a:t>
            </a:r>
          </a:p>
          <a:p>
            <a:pPr algn="l"/>
            <a:r>
              <a:rPr sz="1200" b="0">
                <a:solidFill>
                  <a:srgbClr val="6B6B6B"/>
                </a:solidFill>
                <a:latin typeface="PingFang SC"/>
              </a:rPr>
              <a:t>这些校园场景命中率明显偏低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55448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FAF9FB"/>
          </a:solidFill>
          <a:ln w="9525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30632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7B287D"/>
                </a:solidFill>
                <a:latin typeface="PingFang SC"/>
              </a:rPr>
              <a:t>🚨 新生季高发四类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0632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D2D2D"/>
                </a:solidFill>
                <a:latin typeface="PingFang SC"/>
              </a:rPr>
              <a:t>冒充辅导员 / 学长索要班费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46120"/>
            <a:ext cx="30632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PingFang SC"/>
              </a:rPr>
              <a:t>新生兼职刷单（手册十大类首位）</a:t>
            </a:r>
          </a:p>
          <a:p>
            <a:pPr algn="l"/>
            <a:r>
              <a:rPr sz="1200" b="0">
                <a:solidFill>
                  <a:srgbClr val="6B6B6B"/>
                </a:solidFill>
                <a:latin typeface="PingFang SC"/>
              </a:rPr>
              <a:t>冒充客服+网贷+钓鱼链接</a:t>
            </a:r>
          </a:p>
          <a:p>
            <a:pPr algn="l"/>
            <a:r>
              <a:rPr sz="1200" b="0">
                <a:solidFill>
                  <a:srgbClr val="6B6B6B"/>
                </a:solidFill>
                <a:latin typeface="PingFang SC"/>
              </a:rPr>
              <a:t>高仿号+诱导安装陌生 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74920"/>
            <a:ext cx="11247120" cy="914400"/>
          </a:xfrm>
          <a:prstGeom prst="roundRect">
            <a:avLst>
              <a:gd name="adj" fmla="val 15000"/>
            </a:avLst>
          </a:prstGeom>
          <a:solidFill>
            <a:srgbClr val="7B2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▶ 设计目的：补齐校园场景，做学生「粘进去就出结果」的工具——短期补充国家反诈 App，长期嵌入南大官方 App 安全模块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46520"/>
            <a:ext cx="11247120" cy="8000"/>
          </a:xfrm>
          <a:prstGeom prst="rect">
            <a:avLst/>
          </a:prstGeom>
          <a:solidFill>
            <a:srgbClr val="F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PingFang SC"/>
              </a:rPr>
              <a:t>南大数智安全官 NJU Guardian · OpenClaw 应用创新大赛初赛答辩 · 2026.05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510528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7B287D"/>
                </a:solidFill>
                <a:latin typeface="PingFang SC"/>
              </a:rPr>
              <a:t>⏱ 讲稿 00:40  ·  1/3 · 设计目的与思路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7B2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4A1852"/>
                </a:solidFill>
                <a:latin typeface="PingFang SC"/>
              </a:rPr>
              <a:t>02  核心思路 · 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PingFang SC"/>
              </a:rPr>
              <a:t>三模态输入 → OpenClaw 中间层 → 三段输出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41148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PingFang SC"/>
              </a:rPr>
              <a:t>03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47120" cy="1371600"/>
          </a:xfrm>
          <a:prstGeom prst="roundRect">
            <a:avLst>
              <a:gd name="adj" fmla="val 5000"/>
            </a:avLst>
          </a:prstGeom>
          <a:solidFill>
            <a:srgbClr val="F3E8F5"/>
          </a:solidFill>
          <a:ln w="12700">
            <a:solidFill>
              <a:srgbClr val="7B28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A1852"/>
                </a:solidFill>
                <a:latin typeface="PingFang SC"/>
              </a:rPr>
              <a:t>① 用户层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PingFang SC"/>
              </a:rPr>
              <a:t>微信小程序 / H5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00200"/>
            <a:ext cx="26517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7B28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69164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4A1852"/>
                </a:solidFill>
                <a:latin typeface="PingFang SC"/>
              </a:rPr>
              <a:t>📝 文本输入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4884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PingFang SC"/>
              </a:rPr>
              <a:t>粘贴可疑短信、聊天记录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00200"/>
            <a:ext cx="26517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7B28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69164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4A1852"/>
                </a:solidFill>
                <a:latin typeface="PingFang SC"/>
              </a:rPr>
              <a:t>🖼 截图上传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14884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PingFang SC"/>
              </a:rPr>
              <a:t>OCR + 二维码识别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600200"/>
            <a:ext cx="26517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7B28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69164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4A1852"/>
                </a:solidFill>
                <a:latin typeface="PingFang SC"/>
              </a:rPr>
              <a:t>🔗 链接电话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14884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PingFang SC"/>
              </a:rPr>
              <a:t>可疑 URL / 手机号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852160" y="2834640"/>
            <a:ext cx="457200" cy="365760"/>
          </a:xfrm>
          <a:prstGeom prst="downArrow">
            <a:avLst/>
          </a:prstGeom>
          <a:solidFill>
            <a:srgbClr val="7B2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291840"/>
            <a:ext cx="11247120" cy="1417320"/>
          </a:xfrm>
          <a:prstGeom prst="roundRect">
            <a:avLst>
              <a:gd name="adj" fmla="val 5000"/>
            </a:avLst>
          </a:prstGeom>
          <a:solidFill>
            <a:srgbClr val="7B287D"/>
          </a:solidFill>
          <a:ln w="19050">
            <a:solidFill>
              <a:srgbClr val="4A1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38328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</a:rPr>
              <a:t>② OpenClaw 平台中间层（重点）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9476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3E8F5"/>
                </a:solidFill>
                <a:latin typeface="PingFang SC"/>
              </a:rPr>
              <a:t>多 Agent 协同调度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347472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4A1852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35661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🧠 多模态理解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977640"/>
            <a:ext cx="26517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3E8F5"/>
                </a:solidFill>
                <a:latin typeface="PingFang SC"/>
              </a:rPr>
              <a:t>截图 OCR · 二维码</a:t>
            </a:r>
          </a:p>
          <a:p>
            <a:pPr algn="ctr"/>
            <a:r>
              <a:rPr sz="1000" b="0">
                <a:solidFill>
                  <a:srgbClr val="F3E8F5"/>
                </a:solidFill>
                <a:latin typeface="PingFang SC"/>
              </a:rPr>
              <a:t>转账界面识别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47472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4A1852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5661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🔧 工具调用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77640"/>
            <a:ext cx="26517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3E8F5"/>
                </a:solidFill>
                <a:latin typeface="PingFang SC"/>
              </a:rPr>
              <a:t>URL 黑名单 · 向量检索</a:t>
            </a:r>
          </a:p>
          <a:p>
            <a:pPr algn="ctr"/>
            <a:r>
              <a:rPr sz="1000" b="0">
                <a:solidFill>
                  <a:srgbClr val="F3E8F5"/>
                </a:solidFill>
                <a:latin typeface="PingFang SC"/>
              </a:rPr>
              <a:t>外部反诈接口 · 脱敏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347472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4A1852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35661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🔀 流程编排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977640"/>
            <a:ext cx="26517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3E8F5"/>
                </a:solidFill>
                <a:latin typeface="PingFang SC"/>
              </a:rPr>
              <a:t>主控 Agent 调度</a:t>
            </a:r>
          </a:p>
          <a:p>
            <a:pPr algn="ctr"/>
            <a:r>
              <a:rPr sz="1000" b="0">
                <a:solidFill>
                  <a:srgbClr val="F3E8F5"/>
                </a:solidFill>
                <a:latin typeface="PingFang SC"/>
              </a:rPr>
              <a:t>案例回流自动化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5852160" y="4754880"/>
            <a:ext cx="457200" cy="365760"/>
          </a:xfrm>
          <a:prstGeom prst="downArrow">
            <a:avLst/>
          </a:prstGeom>
          <a:solidFill>
            <a:srgbClr val="7B2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5212080"/>
            <a:ext cx="11247120" cy="1234440"/>
          </a:xfrm>
          <a:prstGeom prst="roundRect">
            <a:avLst>
              <a:gd name="adj" fmla="val 5000"/>
            </a:avLst>
          </a:prstGeom>
          <a:solidFill>
            <a:srgbClr val="F3E8F5"/>
          </a:solidFill>
          <a:ln w="12700">
            <a:solidFill>
              <a:srgbClr val="7B28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30352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A1852"/>
                </a:solidFill>
                <a:latin typeface="PingFang SC"/>
              </a:rPr>
              <a:t>③ 知识库 + 三段输出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150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PingFang SC"/>
              </a:rPr>
              <a:t>向量库 + 结构化案例库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0" y="534924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539496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>
                <a:solidFill>
                  <a:srgbClr val="2D2D2D"/>
                </a:solidFill>
                <a:latin typeface="PingFang SC"/>
              </a:rPr>
              <a:t>🔴🟡🟢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5440680"/>
            <a:ext cx="2103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PingFang SC"/>
              </a:rPr>
              <a:t>三级风险标签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534924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7B28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539496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>
                <a:solidFill>
                  <a:srgbClr val="2D2D2D"/>
                </a:solidFill>
                <a:latin typeface="PingFang SC"/>
              </a:rPr>
              <a:t>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440680"/>
            <a:ext cx="2103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PingFang SC"/>
              </a:rPr>
              <a:t>RAG 相似案例引证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534924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35A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539496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>
                <a:solidFill>
                  <a:srgbClr val="2D2D2D"/>
                </a:solidFill>
                <a:latin typeface="PingFang SC"/>
              </a:rPr>
              <a:t>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5440680"/>
            <a:ext cx="2103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PingFang SC"/>
              </a:rPr>
              <a:t>三步行动建议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PingFang SC"/>
              </a:rPr>
              <a:t>含 81686110 · 96110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446520"/>
            <a:ext cx="11247120" cy="8000"/>
          </a:xfrm>
          <a:prstGeom prst="rect">
            <a:avLst/>
          </a:prstGeom>
          <a:solidFill>
            <a:srgbClr val="F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PingFang SC"/>
              </a:rPr>
              <a:t>南大数智安全官 NJU Guardian · OpenClaw 应用创新大赛初赛答辩 · 2026.05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6510528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7B287D"/>
                </a:solidFill>
                <a:latin typeface="PingFang SC"/>
              </a:rPr>
              <a:t>⏱ 讲稿 01:00  ·  1/3 · 设计目的与思路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7B2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4A1852"/>
                </a:solidFill>
                <a:latin typeface="PingFang SC"/>
              </a:rPr>
              <a:t>03  OpenClaw 平台应用 · 多 Agent 编排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PingFang SC"/>
              </a:rPr>
              <a:t>重点 · 五个 Agent / Workflow 各承担一类任务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41148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PingFang SC"/>
              </a:rPr>
              <a:t>04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675120" cy="4846320"/>
          </a:xfrm>
          <a:prstGeom prst="roundRect">
            <a:avLst>
              <a:gd name="adj" fmla="val 3000"/>
            </a:avLst>
          </a:prstGeom>
          <a:solidFill>
            <a:srgbClr val="FAF9FB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0" y="1691640"/>
            <a:ext cx="24688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2D2D2D"/>
                </a:solidFill>
                <a:latin typeface="PingFang SC"/>
              </a:rPr>
              <a:t>用户输入（文本/截图/链接）</a:t>
            </a:r>
          </a:p>
        </p:txBody>
      </p:sp>
      <p:sp>
        <p:nvSpPr>
          <p:cNvPr id="8" name="Down Arrow 7"/>
          <p:cNvSpPr/>
          <p:nvPr/>
        </p:nvSpPr>
        <p:spPr>
          <a:xfrm>
            <a:off x="3566160" y="2331720"/>
            <a:ext cx="365760" cy="320040"/>
          </a:xfrm>
          <a:prstGeom prst="downArrow">
            <a:avLst/>
          </a:prstGeom>
          <a:solidFill>
            <a:srgbClr val="7B2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2788920"/>
            <a:ext cx="3017520" cy="640080"/>
          </a:xfrm>
          <a:prstGeom prst="roundRect">
            <a:avLst>
              <a:gd name="adj" fmla="val 25000"/>
            </a:avLst>
          </a:prstGeom>
          <a:solidFill>
            <a:srgbClr val="7B287D"/>
          </a:solidFill>
          <a:ln w="12700">
            <a:solidFill>
              <a:srgbClr val="4A1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🎯 主控 Agent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识别输入类型 → 路由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03320"/>
            <a:ext cx="19659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28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94760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4A1852"/>
                </a:solidFill>
                <a:latin typeface="PingFang SC"/>
              </a:rPr>
              <a:t>📝 文本风险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60520"/>
            <a:ext cx="1965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PingFang SC"/>
              </a:rPr>
              <a:t>RAG 检索 + 规则匹配</a:t>
            </a:r>
          </a:p>
          <a:p>
            <a:pPr algn="ctr"/>
            <a:r>
              <a:rPr sz="1000" b="0">
                <a:solidFill>
                  <a:srgbClr val="6B6B6B"/>
                </a:solidFill>
                <a:latin typeface="PingFang SC"/>
              </a:rPr>
              <a:t>校园话术分类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3703320"/>
            <a:ext cx="19659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28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3794760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4A1852"/>
                </a:solidFill>
                <a:latin typeface="PingFang SC"/>
              </a:rPr>
              <a:t>🖼 多模态截图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160520"/>
            <a:ext cx="1965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PingFang SC"/>
              </a:rPr>
              <a:t>OCR + 二维码</a:t>
            </a:r>
          </a:p>
          <a:p>
            <a:pPr algn="ctr"/>
            <a:r>
              <a:rPr sz="1000" b="0">
                <a:solidFill>
                  <a:srgbClr val="6B6B6B"/>
                </a:solidFill>
                <a:latin typeface="PingFang SC"/>
              </a:rPr>
              <a:t>场景识别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3703320"/>
            <a:ext cx="19659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28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3794760"/>
            <a:ext cx="1965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4A1852"/>
                </a:solidFill>
                <a:latin typeface="PingFang SC"/>
              </a:rPr>
              <a:t>🔗 链接电话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160520"/>
            <a:ext cx="1965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PingFang SC"/>
              </a:rPr>
              <a:t>URL 风险接口</a:t>
            </a:r>
          </a:p>
          <a:p>
            <a:pPr algn="ctr"/>
            <a:r>
              <a:rPr sz="1000" b="0">
                <a:solidFill>
                  <a:srgbClr val="6B6B6B"/>
                </a:solidFill>
                <a:latin typeface="PingFang SC"/>
              </a:rPr>
              <a:t>短链还原 / 号码归属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5166360"/>
            <a:ext cx="3017520" cy="502920"/>
          </a:xfrm>
          <a:prstGeom prst="roundRect">
            <a:avLst>
              <a:gd name="adj" fmla="val 30000"/>
            </a:avLst>
          </a:prstGeom>
          <a:solidFill>
            <a:srgbClr val="F3E8F5"/>
          </a:solidFill>
          <a:ln w="9525">
            <a:solidFill>
              <a:srgbClr val="7B28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4A1852"/>
                </a:solidFill>
                <a:latin typeface="PingFang SC"/>
              </a:rPr>
              <a:t>🧩 聚合输出工作流：风险标签 + 案例 + 三步建议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897880"/>
            <a:ext cx="57607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35A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35A85C"/>
                </a:solidFill>
                <a:latin typeface="PingFang SC"/>
              </a:rPr>
              <a:t>♻️ 案例回流 Workflow：用户授权 → 脱敏 Agent → 写入知识库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417320"/>
            <a:ext cx="4297680" cy="4846320"/>
          </a:xfrm>
          <a:prstGeom prst="roundRect">
            <a:avLst>
              <a:gd name="adj" fmla="val 3000"/>
            </a:avLst>
          </a:prstGeom>
          <a:solidFill>
            <a:srgbClr val="4A1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1600200"/>
            <a:ext cx="3749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</a:rPr>
              <a:t>▼ 各 Agent 调用的 OpenClaw 能力</a:t>
            </a:r>
          </a:p>
        </p:txBody>
      </p:sp>
      <p:sp>
        <p:nvSpPr>
          <p:cNvPr id="23" name="Oval 22"/>
          <p:cNvSpPr/>
          <p:nvPr/>
        </p:nvSpPr>
        <p:spPr>
          <a:xfrm>
            <a:off x="7680960" y="2359152"/>
            <a:ext cx="164592" cy="164592"/>
          </a:xfrm>
          <a:prstGeom prst="ellipse">
            <a:avLst/>
          </a:prstGeom>
          <a:solidFill>
            <a:srgbClr val="F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2194560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ingFang SC"/>
              </a:rPr>
              <a:t>主控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2468880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3E8F5"/>
                </a:solidFill>
                <a:latin typeface="PingFang SC"/>
              </a:rPr>
              <a:t>→ 流程编排</a:t>
            </a:r>
          </a:p>
        </p:txBody>
      </p:sp>
      <p:sp>
        <p:nvSpPr>
          <p:cNvPr id="26" name="Oval 25"/>
          <p:cNvSpPr/>
          <p:nvPr/>
        </p:nvSpPr>
        <p:spPr>
          <a:xfrm>
            <a:off x="7680960" y="3017520"/>
            <a:ext cx="164592" cy="164592"/>
          </a:xfrm>
          <a:prstGeom prst="ellipse">
            <a:avLst/>
          </a:prstGeom>
          <a:solidFill>
            <a:srgbClr val="F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2852928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ingFang SC"/>
              </a:rPr>
              <a:t>文本风险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3127248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3E8F5"/>
                </a:solidFill>
                <a:latin typeface="PingFang SC"/>
              </a:rPr>
              <a:t>→ 工具调用 (RAG) + 知识库</a:t>
            </a:r>
          </a:p>
        </p:txBody>
      </p:sp>
      <p:sp>
        <p:nvSpPr>
          <p:cNvPr id="29" name="Oval 28"/>
          <p:cNvSpPr/>
          <p:nvPr/>
        </p:nvSpPr>
        <p:spPr>
          <a:xfrm>
            <a:off x="7680960" y="3675888"/>
            <a:ext cx="164592" cy="164592"/>
          </a:xfrm>
          <a:prstGeom prst="ellipse">
            <a:avLst/>
          </a:prstGeom>
          <a:solidFill>
            <a:srgbClr val="F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3511296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ingFang SC"/>
              </a:rPr>
              <a:t>多模态截图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3785616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3E8F5"/>
                </a:solidFill>
                <a:latin typeface="PingFang SC"/>
              </a:rPr>
              <a:t>→ 多模态理解 (OCR/QR)</a:t>
            </a:r>
          </a:p>
        </p:txBody>
      </p:sp>
      <p:sp>
        <p:nvSpPr>
          <p:cNvPr id="32" name="Oval 31"/>
          <p:cNvSpPr/>
          <p:nvPr/>
        </p:nvSpPr>
        <p:spPr>
          <a:xfrm>
            <a:off x="7680960" y="4334256"/>
            <a:ext cx="164592" cy="164592"/>
          </a:xfrm>
          <a:prstGeom prst="ellipse">
            <a:avLst/>
          </a:prstGeom>
          <a:solidFill>
            <a:srgbClr val="F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0" y="4169664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ingFang SC"/>
              </a:rPr>
              <a:t>链接电话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0" y="4443984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3E8F5"/>
                </a:solidFill>
                <a:latin typeface="PingFang SC"/>
              </a:rPr>
              <a:t>→ 工具调用 (URL/号码接口)</a:t>
            </a:r>
          </a:p>
        </p:txBody>
      </p:sp>
      <p:sp>
        <p:nvSpPr>
          <p:cNvPr id="35" name="Oval 34"/>
          <p:cNvSpPr/>
          <p:nvPr/>
        </p:nvSpPr>
        <p:spPr>
          <a:xfrm>
            <a:off x="7680960" y="4992624"/>
            <a:ext cx="164592" cy="164592"/>
          </a:xfrm>
          <a:prstGeom prst="ellipse">
            <a:avLst/>
          </a:prstGeom>
          <a:solidFill>
            <a:srgbClr val="F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4828032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ingFang SC"/>
              </a:rPr>
              <a:t>聚合输出工作流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5102352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3E8F5"/>
                </a:solidFill>
                <a:latin typeface="PingFang SC"/>
              </a:rPr>
              <a:t>→ 流程编排</a:t>
            </a:r>
          </a:p>
        </p:txBody>
      </p:sp>
      <p:sp>
        <p:nvSpPr>
          <p:cNvPr id="38" name="Oval 37"/>
          <p:cNvSpPr/>
          <p:nvPr/>
        </p:nvSpPr>
        <p:spPr>
          <a:xfrm>
            <a:off x="7680960" y="5650992"/>
            <a:ext cx="164592" cy="164592"/>
          </a:xfrm>
          <a:prstGeom prst="ellipse">
            <a:avLst/>
          </a:prstGeom>
          <a:solidFill>
            <a:srgbClr val="F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0" y="5486400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ingFang SC"/>
              </a:rPr>
              <a:t>案例回流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0" y="5760720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3E8F5"/>
                </a:solidFill>
                <a:latin typeface="PingFang SC"/>
              </a:rPr>
              <a:t>→ 流程编排 + 工具调用 (脱敏)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446520"/>
            <a:ext cx="11247120" cy="8000"/>
          </a:xfrm>
          <a:prstGeom prst="rect">
            <a:avLst/>
          </a:prstGeom>
          <a:solidFill>
            <a:srgbClr val="F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PingFang SC"/>
              </a:rPr>
              <a:t>南大数智安全官 NJU Guardian · OpenClaw 应用创新大赛初赛答辩 · 2026.05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6510528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7B287D"/>
                </a:solidFill>
                <a:latin typeface="PingFang SC"/>
              </a:rPr>
              <a:t>⏱ 讲稿 01:00  ·  2/3 · 平台应用与实现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7B2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4A1852"/>
                </a:solidFill>
                <a:latin typeface="PingFang SC"/>
              </a:rPr>
              <a:t>04  当前进展 · 双路召回原型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PingFang SC"/>
              </a:rPr>
              <a:t>本地 Demo v0.2.1 已跑通 · 决赛阶段迁移到 OpenClaw 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41148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PingFang SC"/>
              </a:rPr>
              <a:t>05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669280" cy="4846320"/>
          </a:xfrm>
          <a:prstGeom prst="roundRect">
            <a:avLst>
              <a:gd name="adj" fmla="val 3000"/>
            </a:avLst>
          </a:prstGeom>
          <a:solidFill>
            <a:srgbClr val="FAF9FB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A1852"/>
                </a:solidFill>
                <a:latin typeface="PingFang SC"/>
              </a:rPr>
              <a:t>▼ 双路融合检测引擎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4028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2D2D2D"/>
                </a:solidFill>
                <a:latin typeface="PingFang SC"/>
              </a:rPr>
              <a:t>用户输入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A5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5A523"/>
                </a:solidFill>
                <a:latin typeface="PingFang SC"/>
              </a:rPr>
              <a:t>📐 规则路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PingFang SC"/>
              </a:rPr>
              <a:t>keywords + regex 命中</a:t>
            </a:r>
          </a:p>
          <a:p>
            <a:pPr algn="ctr"/>
            <a:r>
              <a:rPr sz="1000" b="0">
                <a:solidFill>
                  <a:srgbClr val="6B6B6B"/>
                </a:solidFill>
                <a:latin typeface="PingFang SC"/>
              </a:rPr>
              <a:t>→ rule_score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0632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28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315468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7B287D"/>
                </a:solidFill>
                <a:latin typeface="PingFang SC"/>
              </a:rPr>
              <a:t>🧠 向量路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52044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PingFang SC"/>
              </a:rPr>
              <a:t>BGE-zh 余弦相似度</a:t>
            </a:r>
          </a:p>
          <a:p>
            <a:pPr algn="ctr"/>
            <a:r>
              <a:rPr sz="1000" b="0">
                <a:solidFill>
                  <a:srgbClr val="6B6B6B"/>
                </a:solidFill>
                <a:latin typeface="PingFang SC"/>
              </a:rPr>
              <a:t>→ vector_sim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297680"/>
            <a:ext cx="4572000" cy="548640"/>
          </a:xfrm>
          <a:prstGeom prst="roundRect">
            <a:avLst>
              <a:gd name="adj" fmla="val 30000"/>
            </a:avLst>
          </a:prstGeom>
          <a:solidFill>
            <a:srgbClr val="7B2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综合分 = rule_score + 2.5 × vector_sim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6916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E23A3A"/>
                </a:solidFill>
                <a:latin typeface="PingFang SC"/>
              </a:rPr>
              <a:t>🔴 高风险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691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PingFang SC"/>
              </a:rPr>
              <a:t>双路确认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4600" y="5029200"/>
            <a:ext cx="16916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A5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6636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5A523"/>
                </a:solidFill>
                <a:latin typeface="PingFang SC"/>
              </a:rPr>
              <a:t>🟡 中等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5623560"/>
            <a:ext cx="1691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PingFang SC"/>
              </a:rPr>
              <a:t>单路强信号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5029200"/>
            <a:ext cx="16916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5A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5166360"/>
            <a:ext cx="1691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35A85C"/>
                </a:solidFill>
                <a:latin typeface="PingFang SC"/>
              </a:rPr>
              <a:t>🟢 低风险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623560"/>
            <a:ext cx="1691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PingFang SC"/>
              </a:rPr>
              <a:t>双路均弱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417320"/>
            <a:ext cx="530352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7B28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60020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A1852"/>
                </a:solidFill>
                <a:latin typeface="PingFang SC"/>
              </a:rPr>
              <a:t>▼ 当前进展（本地 Demo v0.2.1）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19456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7B287D"/>
                </a:solidFill>
                <a:latin typeface="PingFang SC"/>
              </a:rPr>
              <a:t>📚 50 类知识库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42316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PingFang SC"/>
              </a:rPr>
              <a:t>国家反诈 10 类 + 新型 5 类 + 校园特化 12 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69748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7B287D"/>
                </a:solidFill>
                <a:latin typeface="PingFang SC"/>
              </a:rPr>
              <a:t>🎯 8 / 8 冒烟测试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92608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PingFang SC"/>
              </a:rPr>
              <a:t>TOP-1 全部命中正确 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20040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7B287D"/>
                </a:solidFill>
                <a:latin typeface="PingFang SC"/>
              </a:rPr>
              <a:t>⚡ ~180ms 单次延迟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42900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PingFang SC"/>
              </a:rPr>
              <a:t>CPU 推理 · 嵌入缓存毫秒级二次启动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70332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7B287D"/>
                </a:solidFill>
                <a:latin typeface="PingFang SC"/>
              </a:rPr>
              <a:t>🔄 降级链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93192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PingFang SC"/>
              </a:rPr>
              <a:t>BGE-zh → TF-IDF → 仅规则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20624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7B287D"/>
                </a:solidFill>
                <a:latin typeface="PingFang SC"/>
              </a:rPr>
              <a:t>📂 来源可追溯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43484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PingFang SC"/>
              </a:rPr>
              <a:t>每条 case 强制 source 字段引用公开材料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70916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7B287D"/>
                </a:solidFill>
                <a:latin typeface="PingFang SC"/>
              </a:rPr>
              <a:t>🛡 CI 已绿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93776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PingFang SC"/>
              </a:rPr>
              <a:t>GitHub Actions · MIT + CC BY 4.0 双许可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5532120"/>
            <a:ext cx="4937760" cy="548640"/>
          </a:xfrm>
          <a:prstGeom prst="roundRect">
            <a:avLst>
              <a:gd name="adj" fmla="val 30000"/>
            </a:avLst>
          </a:prstGeom>
          <a:solidFill>
            <a:srgbClr val="F3E8F5"/>
          </a:solidFill>
          <a:ln w="6350">
            <a:solidFill>
              <a:srgbClr val="7B28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4A1852"/>
                </a:solidFill>
                <a:latin typeface="PingFang SC"/>
              </a:rPr>
              <a:t>▶ 决赛迁移：本地规则/TF-IDF → OpenClaw 原生 RAG + 多 Agent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446520"/>
            <a:ext cx="11247120" cy="8000"/>
          </a:xfrm>
          <a:prstGeom prst="rect">
            <a:avLst/>
          </a:prstGeom>
          <a:solidFill>
            <a:srgbClr val="F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PingFang SC"/>
              </a:rPr>
              <a:t>南大数智安全官 NJU Guardian · OpenClaw 应用创新大赛初赛答辩 · 2026.05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6510528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7B287D"/>
                </a:solidFill>
                <a:latin typeface="PingFang SC"/>
              </a:rPr>
              <a:t>⏱ 讲稿 00:40  ·  2/3 · 平台应用与实现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7B2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4A1852"/>
                </a:solidFill>
                <a:latin typeface="PingFang SC"/>
              </a:rPr>
              <a:t>05  现场 Demo · token 使用环节（重点）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PingFang SC"/>
              </a:rPr>
              <a:t>屏幕共享 OpenClaw 平台 → 实操检测 → 平台调度日志可见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41148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PingFang SC"/>
              </a:rPr>
              <a:t>06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120640" cy="4846320"/>
          </a:xfrm>
          <a:prstGeom prst="roundRect">
            <a:avLst>
              <a:gd name="adj" fmla="val 3000"/>
            </a:avLst>
          </a:prstGeom>
          <a:solidFill>
            <a:srgbClr val="FAF9FB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A1852"/>
                </a:solidFill>
                <a:latin typeface="PingFang SC"/>
              </a:rPr>
              <a:t>▼ 现场演示输入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45720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0">
                <a:solidFill>
                  <a:srgbClr val="2D2D2D"/>
                </a:solidFill>
                <a:latin typeface="PingFang SC"/>
              </a:rPr>
              <a:t>「辅导员让我代收班费，要我先</a:t>
            </a:r>
          </a:p>
          <a:p>
            <a:pPr algn="ctr"/>
            <a:r>
              <a:rPr sz="1300" b="0">
                <a:solidFill>
                  <a:srgbClr val="2D2D2D"/>
                </a:solidFill>
                <a:latin typeface="PingFang SC"/>
              </a:rPr>
              <a:t>转 800 给他他周一返我」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A1852"/>
                </a:solidFill>
                <a:latin typeface="PingFang SC"/>
              </a:rPr>
              <a:t>▼ 预期输出（OpenClaw 端到端）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4572000" cy="502920"/>
          </a:xfrm>
          <a:prstGeom prst="roundRect">
            <a:avLst>
              <a:gd name="adj" fmla="val 20000"/>
            </a:avLst>
          </a:prstGeom>
          <a:solidFill>
            <a:srgbClr val="E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🔴 高风险 · 命中 KB-008 冒充辅导员 · 综合分 4.2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51960"/>
            <a:ext cx="45720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34340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PingFang SC"/>
              </a:rPr>
              <a:t>1. 立即停止转账，通过电话/当面与辅导员核实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45720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4632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PingFang SC"/>
              </a:rPr>
              <a:t>2. 八个凡是·第 6 条：自称领导先嘘寒问暖再要转账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57800"/>
            <a:ext cx="45720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34924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PingFang SC"/>
              </a:rPr>
              <a:t>3. 已转账 → 96110 / 南大保卫处 81686110 / 报警 110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15000"/>
            <a:ext cx="4572000" cy="365760"/>
          </a:xfrm>
          <a:prstGeom prst="roundRect">
            <a:avLst>
              <a:gd name="adj" fmla="val 20000"/>
            </a:avLst>
          </a:prstGeom>
          <a:solidFill>
            <a:srgbClr val="F5A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2D2D2D"/>
                </a:solidFill>
                <a:latin typeface="PingFang SC"/>
              </a:rPr>
              <a:t>⚠ 兜底：网络异常立即切本地 Gradio 或播 Demo.mov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1417320"/>
            <a:ext cx="5852160" cy="4846320"/>
          </a:xfrm>
          <a:prstGeom prst="roundRect">
            <a:avLst>
              <a:gd name="adj" fmla="val 3000"/>
            </a:avLst>
          </a:prstGeom>
          <a:solidFill>
            <a:srgbClr val="4A1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6002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</a:rPr>
              <a:t>▼ OpenClaw 平台 token 流转 · 5 步演示脚本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148840"/>
            <a:ext cx="731520" cy="640080"/>
          </a:xfrm>
          <a:prstGeom prst="roundRect">
            <a:avLst>
              <a:gd name="adj" fmla="val 30000"/>
            </a:avLst>
          </a:prstGeom>
          <a:solidFill>
            <a:srgbClr val="7B287D"/>
          </a:solidFill>
          <a:ln w="1270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Step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148840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ingFang SC"/>
              </a:rPr>
              <a:t>粘贴输入到 OpenClaw Web 控制台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441448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3E8F5"/>
                </a:solidFill>
                <a:latin typeface="PingFang SC"/>
              </a:rPr>
              <a:t>🪙 输入 token 解析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971800"/>
            <a:ext cx="731520" cy="640080"/>
          </a:xfrm>
          <a:prstGeom prst="roundRect">
            <a:avLst>
              <a:gd name="adj" fmla="val 30000"/>
            </a:avLst>
          </a:prstGeom>
          <a:solidFill>
            <a:srgbClr val="7B287D"/>
          </a:solidFill>
          <a:ln w="1270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Step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971800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ingFang SC"/>
              </a:rPr>
              <a:t>主控 Agent 识别 → 路由至文本风险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264408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3E8F5"/>
                </a:solidFill>
                <a:latin typeface="PingFang SC"/>
              </a:rPr>
              <a:t>🪙 流程编排 token · 平台日志可见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794760"/>
            <a:ext cx="731520" cy="640080"/>
          </a:xfrm>
          <a:prstGeom prst="roundRect">
            <a:avLst>
              <a:gd name="adj" fmla="val 30000"/>
            </a:avLst>
          </a:prstGeom>
          <a:solidFill>
            <a:srgbClr val="7B287D"/>
          </a:solidFill>
          <a:ln w="1270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Step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794760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ingFang SC"/>
              </a:rPr>
              <a:t>文本风险 Agent 调用 RAG：BGE-zh 向量召回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087368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3E8F5"/>
                </a:solidFill>
                <a:latin typeface="PingFang SC"/>
              </a:rPr>
              <a:t>🪙 嵌入 token + 检索 token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617720"/>
            <a:ext cx="731520" cy="640080"/>
          </a:xfrm>
          <a:prstGeom prst="roundRect">
            <a:avLst>
              <a:gd name="adj" fmla="val 30000"/>
            </a:avLst>
          </a:prstGeom>
          <a:solidFill>
            <a:srgbClr val="7B287D"/>
          </a:solidFill>
          <a:ln w="1270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617720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ingFang SC"/>
              </a:rPr>
              <a:t>工具调用：URL/号码黑名单接口（本例跳过）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910328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3E8F5"/>
                </a:solidFill>
                <a:latin typeface="PingFang SC"/>
              </a:rPr>
              <a:t>🪙 工具调用 token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5440680"/>
            <a:ext cx="731520" cy="640080"/>
          </a:xfrm>
          <a:prstGeom prst="roundRect">
            <a:avLst>
              <a:gd name="adj" fmla="val 30000"/>
            </a:avLst>
          </a:prstGeom>
          <a:solidFill>
            <a:srgbClr val="7B287D"/>
          </a:solidFill>
          <a:ln w="1270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Step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40680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ingFang SC"/>
              </a:rPr>
              <a:t>聚合输出 🔴高风险卡片 · 全链路 token 消耗可见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733288"/>
            <a:ext cx="4480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3E8F5"/>
                </a:solidFill>
                <a:latin typeface="PingFang SC"/>
              </a:rPr>
              <a:t>🪙 推理 token · 计费透明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46520"/>
            <a:ext cx="11247120" cy="8000"/>
          </a:xfrm>
          <a:prstGeom prst="rect">
            <a:avLst/>
          </a:prstGeom>
          <a:solidFill>
            <a:srgbClr val="F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PingFang SC"/>
              </a:rPr>
              <a:t>南大数智安全官 NJU Guardian · OpenClaw 应用创新大赛初赛答辩 · 2026.05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6510528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7B287D"/>
                </a:solidFill>
                <a:latin typeface="PingFang SC"/>
              </a:rPr>
              <a:t>⏱ 讲稿 01:10  ·  3/3 · 未来效果与现场演示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7B2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4A1852"/>
                </a:solidFill>
                <a:latin typeface="PingFang SC"/>
              </a:rPr>
              <a:t>06  决赛交付 · 差异化定位 · 隐私边界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PingFang SC"/>
              </a:rPr>
              <a:t>六项决赛交付物 · 与国家反诈 App 的互补关系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41148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PingFang SC"/>
              </a:rPr>
              <a:t>07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486400" cy="4846320"/>
          </a:xfrm>
          <a:prstGeom prst="roundRect">
            <a:avLst>
              <a:gd name="adj" fmla="val 3000"/>
            </a:avLst>
          </a:prstGeom>
          <a:solidFill>
            <a:srgbClr val="FAF9FB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4A1852"/>
                </a:solidFill>
                <a:latin typeface="PingFang SC"/>
              </a:rPr>
              <a:t>▼ 决赛阶段交付清单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493776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PingFang SC"/>
              </a:rPr>
              <a:t>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67712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PingFang SC"/>
              </a:rPr>
              <a:t>OpenClaw 平台多 Agent 端到端演示 + 微信小程序前端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07208"/>
            <a:ext cx="493776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98648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PingFang SC"/>
              </a:rP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2608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PingFang SC"/>
              </a:rPr>
              <a:t>知识库扩充至 200+ 条 · 含用户回流脱敏工作流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65576"/>
            <a:ext cx="493776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57016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PingFang SC"/>
              </a:rPr>
              <a:t>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84448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PingFang SC"/>
              </a:rPr>
              <a:t>数据隐私与 AI 安全说明书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23944"/>
            <a:ext cx="493776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15384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PingFang SC"/>
              </a:rP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242816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PingFang SC"/>
              </a:rPr>
              <a:t>代码 / 提示词 / 知识库 / 文档全量开源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82312"/>
            <a:ext cx="493776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73752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PingFang SC"/>
              </a:rPr>
              <a:t>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901184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PingFang SC"/>
              </a:rPr>
              <a:t>3 分钟路演视频 + 典型案例对话演示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40680"/>
            <a:ext cx="493776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532120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PingFang SC"/>
              </a:rPr>
              <a:t>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559552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D2D2D"/>
                </a:solidFill>
                <a:latin typeface="PingFang SC"/>
              </a:rPr>
              <a:t>联系学工部、保卫处寻求真实案例支持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17320"/>
            <a:ext cx="5486400" cy="2377440"/>
          </a:xfrm>
          <a:prstGeom prst="roundRect">
            <a:avLst>
              <a:gd name="adj" fmla="val 5000"/>
            </a:avLst>
          </a:prstGeom>
          <a:solidFill>
            <a:srgbClr val="F3E8F5"/>
          </a:solidFill>
          <a:ln w="6350">
            <a:solidFill>
              <a:srgbClr val="7B28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A1852"/>
                </a:solidFill>
                <a:latin typeface="PingFang SC"/>
              </a:rPr>
              <a:t>▼ 与国家反诈中心 App 差异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0116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A1852"/>
                </a:solidFill>
                <a:latin typeface="PingFang SC"/>
              </a:rPr>
              <a:t>📌 通用 vs 校园语境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011680"/>
            <a:ext cx="2926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PingFang SC"/>
              </a:rPr>
              <a:t>辅导员/教务/奖助/二手/租房/老乡群高仿号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56032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A1852"/>
                </a:solidFill>
                <a:latin typeface="PingFang SC"/>
              </a:rPr>
              <a:t>📌 通用紧急电话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560320"/>
            <a:ext cx="2926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PingFang SC"/>
              </a:rPr>
              <a:t>本地：南大保卫处 81686110 直拨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1089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A1852"/>
                </a:solidFill>
                <a:latin typeface="PingFang SC"/>
              </a:rPr>
              <a:t>📌 独立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108960"/>
            <a:ext cx="2926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PingFang SC"/>
              </a:rPr>
              <a:t>微信小程序 + 嵌入南大官方 App 扩展能力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97764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4A1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11480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</a:rPr>
              <a:t>▼ 数据与隐私安全（AI 安全之星奖关注）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57200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3E8F5"/>
                </a:solidFill>
                <a:latin typeface="PingFang SC"/>
              </a:rPr>
              <a:t>✓ 即用即弃：默认不持久化用户输入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93776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3E8F5"/>
                </a:solidFill>
                <a:latin typeface="PingFang SC"/>
              </a:rPr>
              <a:t>✓ 用户授权方启动回流；脱敏 Agent 自动替换 PII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30352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3E8F5"/>
                </a:solidFill>
                <a:latin typeface="PingFang SC"/>
              </a:rPr>
              <a:t>✓ 案例 ID + 匹配依据可追溯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66928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3E8F5"/>
                </a:solidFill>
                <a:latin typeface="PingFang SC"/>
              </a:rPr>
              <a:t>✓ 仅识别与提示，不替代决策、不拦截通讯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446520"/>
            <a:ext cx="11247120" cy="8000"/>
          </a:xfrm>
          <a:prstGeom prst="rect">
            <a:avLst/>
          </a:prstGeom>
          <a:solidFill>
            <a:srgbClr val="F3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PingFang SC"/>
              </a:rPr>
              <a:t>南大数智安全官 NJU Guardian · OpenClaw 应用创新大赛初赛答辩 · 2026.05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6510528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7B287D"/>
                </a:solidFill>
                <a:latin typeface="PingFang SC"/>
              </a:rPr>
              <a:t>⏱ 讲稿 00:30  ·  3/3 · 未来效果与现场演示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3E8F5"/>
                </a:solidFill>
                <a:latin typeface="PingFang SC"/>
              </a:rPr>
              <a:t>07  Q &amp; A · 期待评委质询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ingFang SC"/>
              </a:rPr>
              <a:t>感谢评审老师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3E8F5"/>
                </a:solidFill>
                <a:latin typeface="PingFang SC"/>
              </a:rPr>
              <a:t>南大数智安全官 NJU Guardian · 期待您的指导与建议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9184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7B287D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</a:rPr>
              <a:t>👤 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3E8F5"/>
                </a:solidFill>
                <a:latin typeface="PingFang SC"/>
              </a:rPr>
              <a:t>鲍海文（221098271）· 个人参赛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3E8F5"/>
                </a:solidFill>
                <a:latin typeface="PingFang SC"/>
              </a:rPr>
              <a:t>南京大学 · 经济学（拔尖计划）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3E8F5"/>
                </a:solidFill>
                <a:latin typeface="PingFang SC"/>
              </a:rPr>
              <a:t>联系：haiwennju@gmail.com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29184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7B287D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47472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</a:rPr>
              <a:t>📚 数据来源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023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3E8F5"/>
                </a:solidFill>
                <a:latin typeface="PingFang SC"/>
              </a:rPr>
              <a:t>国家反诈中心《2023 版宣传手册》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43484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3E8F5"/>
                </a:solidFill>
                <a:latin typeface="PingFang SC"/>
              </a:rPr>
              <a:t>公安部刑侦局公开预警通报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8463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3E8F5"/>
                </a:solidFill>
                <a:latin typeface="PingFang SC"/>
              </a:rPr>
              <a:t>央视 · 新华社 · 高校公开通报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525780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3E8F5"/>
                </a:solidFill>
                <a:latin typeface="PingFang SC"/>
              </a:rPr>
              <a:t>南大保卫处反诈材料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29184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7B287D"/>
          </a:solidFill>
          <a:ln w="6350">
            <a:solidFill>
              <a:srgbClr val="F3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47472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</a:rPr>
              <a:t>📞 紧急联系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023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3E8F5"/>
                </a:solidFill>
                <a:latin typeface="PingFang SC"/>
              </a:rPr>
              <a:t>96110 · 反诈劝阻专线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43484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3E8F5"/>
                </a:solidFill>
                <a:latin typeface="PingFang SC"/>
              </a:rPr>
              <a:t>南大保卫处 · 81686110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8463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3E8F5"/>
                </a:solidFill>
                <a:latin typeface="PingFang SC"/>
              </a:rPr>
              <a:t>12381 · 涉诈短信预警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25780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3E8F5"/>
                </a:solidFill>
                <a:latin typeface="PingFang SC"/>
              </a:rPr>
              <a:t>110 · 报警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263640"/>
            <a:ext cx="11247120" cy="457200"/>
          </a:xfrm>
          <a:prstGeom prst="roundRect">
            <a:avLst>
              <a:gd name="adj" fmla="val 30000"/>
            </a:avLst>
          </a:prstGeom>
          <a:solidFill>
            <a:srgbClr val="F3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4A1852"/>
                </a:solidFill>
                <a:latin typeface="PingFang SC"/>
              </a:rPr>
              <a:t>🌐 开源仓库：github.com/hjjbh1314/nju-guardian   ·   MIT (代码) + CC BY 4.0 (知识库与视觉素材)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